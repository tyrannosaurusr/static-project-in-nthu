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aleway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D201C7-87D6-4D64-A8E7-2F0B96391D0A}">
  <a:tblStyle styleId="{EFD201C7-87D6-4D64-A8E7-2F0B96391D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4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Lato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aleway-bold.fntdata"/><Relationship Id="rId14" Type="http://schemas.openxmlformats.org/officeDocument/2006/relationships/slide" Target="slides/slide8.xml"/><Relationship Id="rId36" Type="http://schemas.openxmlformats.org/officeDocument/2006/relationships/font" Target="fonts/Raleway-regular.fntdata"/><Relationship Id="rId17" Type="http://schemas.openxmlformats.org/officeDocument/2006/relationships/slide" Target="slides/slide11.xml"/><Relationship Id="rId39" Type="http://schemas.openxmlformats.org/officeDocument/2006/relationships/font" Target="fonts/Raleway-boldItalic.fntdata"/><Relationship Id="rId16" Type="http://schemas.openxmlformats.org/officeDocument/2006/relationships/slide" Target="slides/slide10.xml"/><Relationship Id="rId38" Type="http://schemas.openxmlformats.org/officeDocument/2006/relationships/font" Target="fonts/Raleway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5ff2ef1b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5ff2ef1b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5fc96718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5fc96718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5ff2ef1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5ff2ef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5ff2ef1b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5ff2ef1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5ff2ef1b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5ff2ef1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5fc96718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5fc96718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5ff2ef1b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5ff2ef1b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5fc96718e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5fc96718e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5ff2ef1b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5ff2ef1b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606c6dd8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606c6dd8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06c6dd8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606c6dd8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606c6dd87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606c6dd8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600dd94ba_16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600dd94ba_1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00dd94ba_1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600dd94ba_1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5fc96718e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5fc96718e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600dd94ba_16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600dd94ba_16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5fc96718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5fc96718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5fc96718e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5fc96718e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600dd94ba_16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600dd94ba_16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5ff2ef1b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5ff2ef1b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5ff2ef1b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5ff2ef1b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5fc96718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5fc96718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5ff2ef1b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5ff2ef1b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606c6dd8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606c6dd8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600dd94ba_16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600dd94ba_16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606c6dd8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606c6dd8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5fc96718e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5fc96718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5fc96718e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5fc96718e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5fc96718e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5fc96718e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1225275" y="3826525"/>
            <a:ext cx="784800" cy="38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66425" y="1977475"/>
            <a:ext cx="7751400" cy="246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040"/>
              <a:t>大綱</a:t>
            </a:r>
            <a:endParaRPr sz="3040"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4948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資料集介紹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引言-動機與問題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初步分析與EDA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研究方法-線性、非線性與最佳</a:t>
            </a:r>
            <a:r>
              <a:rPr lang="zh-TW" sz="2000"/>
              <a:t>化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結論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團隊貢獻</a:t>
            </a:r>
            <a:endParaRPr sz="2000"/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729450" y="584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 Preliminary Analysis（初步分析）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117125" y="1033650"/>
            <a:ext cx="47433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考試分數分佈呈單峰略右偏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學習時數與成績呈正相</a:t>
            </a:r>
            <a:r>
              <a:rPr lang="zh-TW" sz="1800"/>
              <a:t>關，但存在邊際效益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睡眠時數對成績有正面影響；運動頻率與心理健康評分也顯示出中等的相關性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社交媒體與 Netflix 使用時數與成績呈輕微負相關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網路品質良好時，學習時數對成績的增益效果最明顯，顯示數位基礎設施會影響學習效率。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學習時數最具預測力，其次是心理健康與社交媒體使用時數</a:t>
            </a:r>
            <a:endParaRPr sz="1800"/>
          </a:p>
        </p:txBody>
      </p:sp>
      <p:pic>
        <p:nvPicPr>
          <p:cNvPr id="116" name="Google Shape;116;p18" title="exam_score的分佈直方圖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423" y="58875"/>
            <a:ext cx="3918899" cy="241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title="相關係數圖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3581" y="2571750"/>
            <a:ext cx="3918919" cy="24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title="散佈圖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6500" y="2306450"/>
            <a:ext cx="4492524" cy="27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584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 Methodology(研究方法)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1554650"/>
            <a:ext cx="76887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透過散佈圖與 LOESS 平滑曲線分析，觀察到學習時間與成績間雖存在正相關，但 並非完美線性關係。成績的上升幅度隨學習時間增加逐漸趨緩（邊際效益遞減）。</a:t>
            </a:r>
            <a:endParaRPr sz="1800"/>
          </a:p>
        </p:txBody>
      </p:sp>
      <p:pic>
        <p:nvPicPr>
          <p:cNvPr id="130" name="Google Shape;130;p20" title="非線性關係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7600" y="2571750"/>
            <a:ext cx="3510551" cy="21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數學格式不要跑掉"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數學格式不要跑掉" id="145" name="Google Shape;1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 title="截圖 2025-12-10 凌晨2.54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250" y="1671900"/>
            <a:ext cx="4939974" cy="318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 title="截圖 2025-12-10 凌晨2.54.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0675" y="786496"/>
            <a:ext cx="3518626" cy="407341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/>
        </p:nvSpPr>
        <p:spPr>
          <a:xfrm>
            <a:off x="896138" y="134900"/>
            <a:ext cx="3646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變數篩選結果展示</a:t>
            </a:r>
            <a:endParaRPr b="1" sz="3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6709375" y="352225"/>
            <a:ext cx="2367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rgbClr val="3F3F46"/>
                </a:solidFill>
                <a:latin typeface="Lato"/>
                <a:ea typeface="Lato"/>
                <a:cs typeface="Lato"/>
                <a:sym typeface="Lato"/>
              </a:rPr>
              <a:t>lasso</a:t>
            </a:r>
            <a:endParaRPr b="1" sz="1700">
              <a:solidFill>
                <a:srgbClr val="3F3F4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729450" y="5844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 Methodology(研究方法)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729450" y="1554650"/>
            <a:ext cx="76887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本研究設定一組特定情境：假設有一位學生非常喜歡社交（social_media_hours ≥ 6），且經常缺課（attendance_percentage 僅 60%）。幸運的是，該生並不排斥運動， 一次運動的時間為 40 分鐘；心理健康評分（mental_health_rating）維持在 8 分，並 每日安排約 2 小時觀看 Netflix。並假設該生此學習修習 18 學分，且每一學分代表一週 內有一小時的課。 </a:t>
            </a:r>
            <a:endParaRPr sz="1800"/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9500" y="3195050"/>
            <a:ext cx="4344800" cy="17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729450" y="57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策略最佳化</a:t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727650" y="1345650"/>
            <a:ext cx="7688700" cy="33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本研究設定一組情境：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有位學生</a:t>
            </a:r>
            <a:r>
              <a:rPr b="1" lang="zh-TW" sz="1800"/>
              <a:t>非常喜歡社交</a:t>
            </a:r>
            <a:r>
              <a:rPr lang="zh-TW" sz="1800"/>
              <a:t>（social_media_hours ≥ 6）且</a:t>
            </a:r>
            <a:r>
              <a:rPr b="1" lang="zh-TW" sz="1800"/>
              <a:t>經常缺課</a:t>
            </a:r>
            <a:r>
              <a:rPr lang="zh-TW" sz="1800"/>
              <a:t>（attendance_percentage 僅 60%）。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該生並</a:t>
            </a:r>
            <a:r>
              <a:rPr b="1" lang="zh-TW" sz="1800"/>
              <a:t>不排斥運動</a:t>
            </a:r>
            <a:r>
              <a:rPr lang="zh-TW" sz="1800"/>
              <a:t>，一次運動時長為 40 分鐘，</a:t>
            </a:r>
            <a:r>
              <a:rPr b="1" lang="zh-TW" sz="1800"/>
              <a:t>心理健康評分</a:t>
            </a:r>
            <a:r>
              <a:rPr lang="zh-TW" sz="1800"/>
              <a:t>（mental_health_rating）維持在 8 分，</a:t>
            </a:r>
            <a:r>
              <a:rPr b="1" lang="zh-TW" sz="1800"/>
              <a:t>每日安排約 2 小時觀看 Netflix</a:t>
            </a:r>
            <a:r>
              <a:rPr lang="zh-TW" sz="1800"/>
              <a:t>。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該生</a:t>
            </a:r>
            <a:r>
              <a:rPr b="1" lang="zh-TW" sz="1800"/>
              <a:t>此學期修習 18 學分</a:t>
            </a:r>
            <a:r>
              <a:rPr lang="zh-TW" sz="1800"/>
              <a:t>，且每一學分代表一週內有一小時的課。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727800" y="56097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非</a:t>
            </a:r>
            <a:r>
              <a:rPr lang="zh-TW"/>
              <a:t>線性模型-NLS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729325" y="1393950"/>
            <a:ext cx="55326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zh-TW" sz="1460"/>
              <a:t>NLS 模型參數估計為 a = 97.71，b = 0.385，成功擬合飽和效應： </a:t>
            </a:r>
            <a:endParaRPr b="1" sz="1460"/>
          </a:p>
        </p:txBody>
      </p:sp>
      <p:pic>
        <p:nvPicPr>
          <p:cNvPr id="183" name="Google Shape;183;p29" title="飽和擬合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00" y="1861100"/>
            <a:ext cx="4714549" cy="29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729450" y="625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模型建立與比較</a:t>
            </a:r>
            <a:endParaRPr/>
          </a:p>
        </p:txBody>
      </p:sp>
      <p:pic>
        <p:nvPicPr>
          <p:cNvPr id="189" name="Google Shape;189;p30"/>
          <p:cNvPicPr preferRelativeResize="0"/>
          <p:nvPr/>
        </p:nvPicPr>
        <p:blipFill rotWithShape="1">
          <a:blip r:embed="rId3">
            <a:alphaModFix/>
          </a:blip>
          <a:srcRect b="25222" l="0" r="0" t="0"/>
          <a:stretch/>
        </p:blipFill>
        <p:spPr>
          <a:xfrm>
            <a:off x="1819225" y="2089650"/>
            <a:ext cx="6096000" cy="163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199" name="Google Shape;1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204" name="Google Shape;2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729450" y="57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關鍵影響因素分析</a:t>
            </a:r>
            <a:endParaRPr/>
          </a:p>
        </p:txBody>
      </p: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7276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根據各模型綜合分析，影響考試成績的主要因素包括：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800"/>
              <a:t>正向影響：每日學習時數（最重要因素）、心理健康、運動頻率、睡眠時數、課堂出席率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800"/>
              <a:t>負向影響：社交媒體使用時間、Netflix觀看時間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729450" y="57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策略最佳化</a:t>
            </a:r>
            <a:r>
              <a:rPr lang="zh-TW"/>
              <a:t>限制設定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6"/>
          <p:cNvPicPr preferRelativeResize="0"/>
          <p:nvPr/>
        </p:nvPicPr>
        <p:blipFill rotWithShape="1">
          <a:blip r:embed="rId3">
            <a:alphaModFix/>
          </a:blip>
          <a:srcRect b="59301" l="0" r="0" t="0"/>
          <a:stretch/>
        </p:blipFill>
        <p:spPr>
          <a:xfrm>
            <a:off x="945600" y="2571750"/>
            <a:ext cx="7365625" cy="151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6"/>
          <p:cNvSpPr txBox="1"/>
          <p:nvPr/>
        </p:nvSpPr>
        <p:spPr>
          <a:xfrm>
            <a:off x="945600" y="1517925"/>
            <a:ext cx="66900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根據最佳的模型擬合結果，可以得到以下目標式，再</a:t>
            </a:r>
            <a:r>
              <a:rPr lang="zh-TW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利用lpSolve 在在每日總時間 20 小時的限制下求解，我們得出了最佳作息配置表。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美化這張投影片" id="227" name="Google Shape;2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1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729450" y="57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策略最佳化-</a:t>
            </a:r>
            <a:r>
              <a:rPr lang="zh-TW"/>
              <a:t>結果</a:t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727650" y="1441200"/>
            <a:ext cx="7688700" cy="3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zh-TW" sz="1800"/>
              <a:t>Predicted Maximum Score:</a:t>
            </a:r>
            <a:r>
              <a:rPr lang="zh-TW" sz="1800"/>
              <a:t> 68.17</a:t>
            </a:r>
            <a:endParaRPr sz="1800"/>
          </a:p>
        </p:txBody>
      </p:sp>
      <p:pic>
        <p:nvPicPr>
          <p:cNvPr id="234" name="Google Shape;2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1920750"/>
            <a:ext cx="4114800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729450" y="57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策略最佳化限制設定</a:t>
            </a:r>
            <a:endParaRPr/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727650" y="1441200"/>
            <a:ext cx="7688700" cy="19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我們以StepAIC模型為基礎，在總</a:t>
            </a:r>
            <a:r>
              <a:rPr b="1" lang="zh-TW" sz="1800"/>
              <a:t>時間限制條件</a:t>
            </a:r>
            <a:r>
              <a:rPr lang="zh-TW" sz="1800"/>
              <a:t>下（每日總可用時間≤20小時），找出</a:t>
            </a:r>
            <a:r>
              <a:rPr b="1" lang="zh-TW" sz="1800"/>
              <a:t>最大化考試分數的最佳行為組合</a:t>
            </a:r>
            <a:r>
              <a:rPr lang="zh-TW" sz="1800"/>
              <a:t>。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zh-TW" sz="1800"/>
              <a:t>限制式：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700"/>
              <a:t>StudyHoursPerDay + SocialMediaHours + NetflixHours + SleepHours + ExerciseFrequency ∗ 2/21 + AttendancePercent. ∗ 學分數/700 &lt; 20</a:t>
            </a:r>
            <a:endParaRPr sz="1700"/>
          </a:p>
        </p:txBody>
      </p:sp>
      <p:sp>
        <p:nvSpPr>
          <p:cNvPr id="241" name="Google Shape;241;p39"/>
          <p:cNvSpPr txBox="1"/>
          <p:nvPr/>
        </p:nvSpPr>
        <p:spPr>
          <a:xfrm>
            <a:off x="729450" y="3344400"/>
            <a:ext cx="76887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●"/>
            </a:pPr>
            <a:r>
              <a:rPr b="1" lang="zh-TW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個案時間分配限制</a:t>
            </a:r>
            <a:r>
              <a:rPr lang="zh-TW" sz="18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：各項變數均有合理的上下限或定值設定</a:t>
            </a:r>
            <a:endParaRPr sz="1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○"/>
            </a:pPr>
            <a:r>
              <a:rPr lang="zh-TW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0 ≤ study_hours_per_day ≤ 8.3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○"/>
            </a:pPr>
            <a:r>
              <a:rPr lang="zh-TW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 ≤ SleepHours ≤ 10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ato"/>
              <a:buChar char="○"/>
            </a:pPr>
            <a:r>
              <a:rPr lang="zh-TW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NetflixHours = 2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/>
          <p:nvPr/>
        </p:nvSpPr>
        <p:spPr>
          <a:xfrm>
            <a:off x="696300" y="1306325"/>
            <a:ext cx="7751400" cy="1310700"/>
          </a:xfrm>
          <a:prstGeom prst="roundRect">
            <a:avLst>
              <a:gd fmla="val 977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40"/>
          <p:cNvSpPr txBox="1"/>
          <p:nvPr>
            <p:ph type="title"/>
          </p:nvPr>
        </p:nvSpPr>
        <p:spPr>
          <a:xfrm>
            <a:off x="727650" y="589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Conclusion（結論）</a:t>
            </a:r>
            <a:endParaRPr/>
          </a:p>
        </p:txBody>
      </p:sp>
      <p:sp>
        <p:nvSpPr>
          <p:cNvPr id="248" name="Google Shape;248;p40"/>
          <p:cNvSpPr txBox="1"/>
          <p:nvPr>
            <p:ph idx="1" type="body"/>
          </p:nvPr>
        </p:nvSpPr>
        <p:spPr>
          <a:xfrm>
            <a:off x="727650" y="1346868"/>
            <a:ext cx="7688700" cy="12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zh-TW" sz="1600"/>
              <a:t>模型比較：</a:t>
            </a:r>
            <a:r>
              <a:rPr lang="zh-TW" sz="1600"/>
              <a:t>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TW" sz="1424"/>
              <a:t>StepAIC表現最佳</a:t>
            </a:r>
            <a:r>
              <a:rPr lang="zh-TW" sz="1424"/>
              <a:t>（RMSE=5.349, R²=0.8988），選出的特徵為</a:t>
            </a:r>
            <a:r>
              <a:rPr b="1" lang="zh-TW" sz="1424"/>
              <a:t>study_hours_per_day</a:t>
            </a:r>
            <a:r>
              <a:rPr lang="zh-TW" sz="1424"/>
              <a:t>、social_media_hours、netflix_hours、attendance_percentage、sleep_hours、exercise_frequency、mental_health_rating。</a:t>
            </a:r>
            <a:endParaRPr sz="1424"/>
          </a:p>
        </p:txBody>
      </p:sp>
      <p:sp>
        <p:nvSpPr>
          <p:cNvPr id="249" name="Google Shape;249;p40"/>
          <p:cNvSpPr/>
          <p:nvPr/>
        </p:nvSpPr>
        <p:spPr>
          <a:xfrm>
            <a:off x="696300" y="2710723"/>
            <a:ext cx="7751400" cy="861900"/>
          </a:xfrm>
          <a:prstGeom prst="roundRect">
            <a:avLst>
              <a:gd fmla="val 977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727650" y="2756097"/>
            <a:ext cx="7688700" cy="8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294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zh-TW" sz="2050"/>
              <a:t>邊際效益的驗證： </a:t>
            </a:r>
            <a:endParaRPr sz="20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800"/>
              <a:t>NLS 顯示</a:t>
            </a:r>
            <a:r>
              <a:rPr b="1" lang="zh-TW" sz="1800"/>
              <a:t>學習時間對成績的貢獻存在上限</a:t>
            </a:r>
            <a:r>
              <a:rPr lang="zh-TW" sz="1800"/>
              <a:t>，題海戰術或無限延長讀書時間並非高分的唯一途徑。</a:t>
            </a:r>
            <a:endParaRPr sz="1800"/>
          </a:p>
        </p:txBody>
      </p:sp>
      <p:sp>
        <p:nvSpPr>
          <p:cNvPr id="251" name="Google Shape;251;p40"/>
          <p:cNvSpPr/>
          <p:nvPr/>
        </p:nvSpPr>
        <p:spPr>
          <a:xfrm>
            <a:off x="696300" y="3684516"/>
            <a:ext cx="7751400" cy="1200600"/>
          </a:xfrm>
          <a:prstGeom prst="roundRect">
            <a:avLst>
              <a:gd fmla="val 977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727650" y="3747034"/>
            <a:ext cx="7688700" cy="10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294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zh-TW" sz="2050"/>
              <a:t>最佳化策略： </a:t>
            </a:r>
            <a:endParaRPr sz="20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800"/>
              <a:t>在各限制下，lp 給出了 68.17 分的預測值，能看到數學上的</a:t>
            </a:r>
            <a:r>
              <a:rPr b="1" lang="zh-TW" sz="1800"/>
              <a:t>最佳解位於限制條件的邊界</a:t>
            </a:r>
            <a:r>
              <a:rPr lang="zh-TW" sz="1800"/>
              <a:t>（Boundary Solutions），在應用時必須考量生理健康的「軟限制」，尋求</a:t>
            </a:r>
            <a:r>
              <a:rPr b="1" lang="zh-TW" sz="1800"/>
              <a:t>分數與健康的平衡點</a:t>
            </a:r>
            <a:r>
              <a:rPr lang="zh-TW" sz="1800"/>
              <a:t>。</a:t>
            </a:r>
            <a:endParaRPr sz="180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727650" y="589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團隊貢獻</a:t>
            </a:r>
            <a:endParaRPr/>
          </a:p>
        </p:txBody>
      </p:sp>
      <p:graphicFrame>
        <p:nvGraphicFramePr>
          <p:cNvPr id="258" name="Google Shape;258;p41"/>
          <p:cNvGraphicFramePr/>
          <p:nvPr/>
        </p:nvGraphicFramePr>
        <p:xfrm>
          <a:off x="727650" y="144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{EFD201C7-87D6-4D64-A8E7-2F0B96391D0A}</a:tableStyleId>
              </a:tblPr>
              <a:tblGrid>
                <a:gridCol w="619150"/>
                <a:gridCol w="1272375"/>
                <a:gridCol w="1434400"/>
                <a:gridCol w="1341975"/>
                <a:gridCol w="1573350"/>
                <a:gridCol w="1447450"/>
              </a:tblGrid>
              <a:tr h="53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姓名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TW" sz="18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邱子宸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TW" sz="18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廖明軒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TW" sz="18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呂彥霖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TW" sz="18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凃智中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TW" sz="18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陳晏方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67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團隊貢獻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預處理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EDA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尋找資料集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負責範圍文書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線性模型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(OLS、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Logistic、Lasso、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Ridge </a:t>
                      </a:r>
                      <a:r>
                        <a:rPr lang="zh-TW"/>
                        <a:t>、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StepAIC)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模型評估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尋找資料集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負責範圍文書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文書整理與修訂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簡報製作與優化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非線性模型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(nls、kernel regression、smoothing spline)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尋找資料集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負責範圍文書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線性(StepAIC、Lasso、Ridge)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非線性(RF)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100次迭代驗證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最佳化設定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最佳化1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尋找資料集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負責範圍文書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文書整理與修訂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簡報製作與優化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線性(StepAIC、Lasso、Ridge)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非線性(RF)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多種子驗證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最佳化設定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最佳化2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尋找資料集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負責範圍文書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簡報製作與優化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